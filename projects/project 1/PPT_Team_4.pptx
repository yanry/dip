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451" r:id="rId2"/>
    <p:sldId id="452" r:id="rId3"/>
    <p:sldId id="467" r:id="rId4"/>
    <p:sldId id="469" r:id="rId5"/>
    <p:sldId id="470" r:id="rId6"/>
    <p:sldId id="472" r:id="rId7"/>
    <p:sldId id="471" r:id="rId8"/>
    <p:sldId id="466" r:id="rId9"/>
    <p:sldId id="473" r:id="rId10"/>
    <p:sldId id="475" r:id="rId11"/>
    <p:sldId id="474" r:id="rId12"/>
    <p:sldId id="468" r:id="rId13"/>
    <p:sldId id="45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E00BB"/>
    <a:srgbClr val="003AA3"/>
    <a:srgbClr val="FF4B4B"/>
    <a:srgbClr val="D8B9BA"/>
    <a:srgbClr val="99B3D7"/>
    <a:srgbClr val="DC9D9C"/>
    <a:srgbClr val="2800AE"/>
    <a:srgbClr val="014099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5" autoAdjust="0"/>
    <p:restoredTop sz="94574" autoAdjust="0"/>
  </p:normalViewPr>
  <p:slideViewPr>
    <p:cSldViewPr snapToGrid="0">
      <p:cViewPr varScale="1">
        <p:scale>
          <a:sx n="81" d="100"/>
          <a:sy n="81" d="100"/>
        </p:scale>
        <p:origin x="6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083-6108-4243-A388-DDB13CB06986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F93-DC01-482F-AB5B-F81885DA7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931" y="3066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16868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100000">
              <a:srgbClr val="7F0020"/>
            </a:gs>
            <a:gs pos="0">
              <a:srgbClr val="D74034"/>
            </a:gs>
            <a:gs pos="3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0992"/>
            <a:ext cx="10515600" cy="1296015"/>
          </a:xfrm>
        </p:spPr>
        <p:txBody>
          <a:bodyPr anchor="b">
            <a:noAutofit/>
          </a:bodyPr>
          <a:lstStyle>
            <a:lvl1pPr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313"/>
          <a:stretch>
            <a:fillRect/>
          </a:stretch>
        </p:blipFill>
        <p:spPr>
          <a:xfrm>
            <a:off x="0" y="5069225"/>
            <a:ext cx="12192000" cy="1798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182508"/>
            <a:ext cx="2772075" cy="762828"/>
          </a:xfrm>
          <a:prstGeom prst="rect">
            <a:avLst/>
          </a:prstGeom>
        </p:spPr>
      </p:pic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 + 校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6812" y="325447"/>
            <a:ext cx="2810614" cy="752510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63600" y="1579654"/>
            <a:ext cx="10309225" cy="46466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549169" y="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信息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accent1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78543" y="0"/>
            <a:ext cx="10515600" cy="1310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质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2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7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zh-CN" alt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生命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3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管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4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890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艺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5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科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2" y="182507"/>
            <a:ext cx="8216283" cy="759735"/>
          </a:xfrm>
          <a:solidFill>
            <a:srgbClr val="014099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" y="1013101"/>
            <a:ext cx="12192001" cy="5844899"/>
            <a:chOff x="-1" y="1092199"/>
            <a:chExt cx="12192001" cy="57658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" y="1092199"/>
              <a:ext cx="12192001" cy="5765801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1092199"/>
              <a:ext cx="12192000" cy="5765801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0" y="955951"/>
            <a:ext cx="12192000" cy="15638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/>
        </p:nvSpPr>
        <p:spPr>
          <a:xfrm>
            <a:off x="0" y="72341"/>
            <a:ext cx="139700" cy="83563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06657"/>
            <a:ext cx="2603500" cy="7013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4B51F-5022-4B9A-B1DC-58E2D82F8E58}" type="datetimeFigureOut">
              <a:rPr lang="zh-CN" altLang="en-US" smtClean="0"/>
              <a:t>2024/6/18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98B7BC4-2061-48D7-87E7-1F263715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80992"/>
            <a:ext cx="10515600" cy="1296015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and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Matting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377E5A8-A701-49C2-8799-484EED24B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Ruyue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Zhengkun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598007" cy="75973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36462-C6A1-36D2-A1F6-34A679A93D66}"/>
              </a:ext>
            </a:extLst>
          </p:cNvPr>
          <p:cNvSpPr txBox="1"/>
          <p:nvPr/>
        </p:nvSpPr>
        <p:spPr>
          <a:xfrm>
            <a:off x="584540" y="3931776"/>
            <a:ext cx="69060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background</a:t>
            </a:r>
          </a:p>
          <a:p>
            <a:pPr marL="457200" indent="-457200">
              <a:buFont typeface="+mj-lt"/>
              <a:buAutoNum type="arabicPeriod"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foreground</a:t>
            </a:r>
          </a:p>
          <a:p>
            <a:pPr marL="457200" indent="-457200">
              <a:buFont typeface="+mj-lt"/>
              <a:buAutoNum type="arabicPeriod"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foreground and the background image</a:t>
            </a:r>
          </a:p>
          <a:p>
            <a:pPr marL="342900" indent="-342900">
              <a:buFont typeface="+mj-lt"/>
              <a:buAutoNum type="arabicPeriod"/>
            </a:pP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DC87D7F0-2274-CC78-FBF4-D1CF543D8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450" y="1221052"/>
            <a:ext cx="3100294" cy="1933014"/>
          </a:xfrm>
          <a:prstGeom prst="rect">
            <a:avLst/>
          </a:prstGeom>
        </p:spPr>
      </p:pic>
      <p:pic>
        <p:nvPicPr>
          <p:cNvPr id="7" name="Picture 6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B24E0846-42A2-E594-DD8D-8F30B049E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40" y="1221052"/>
            <a:ext cx="2726764" cy="1933014"/>
          </a:xfrm>
          <a:prstGeom prst="rect">
            <a:avLst/>
          </a:prstGeom>
        </p:spPr>
      </p:pic>
      <p:pic>
        <p:nvPicPr>
          <p:cNvPr id="9" name="Picture 8" descr="A cartoon of a child&#10;&#10;Description automatically generated">
            <a:extLst>
              <a:ext uri="{FF2B5EF4-FFF2-40B4-BE49-F238E27FC236}">
                <a16:creationId xmlns:a16="http://schemas.microsoft.com/office/drawing/2014/main" id="{9D4F77F6-7D5B-4439-C096-15609C4FB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891" y="1221052"/>
            <a:ext cx="3232993" cy="1933014"/>
          </a:xfrm>
          <a:prstGeom prst="rect">
            <a:avLst/>
          </a:prstGeom>
        </p:spPr>
      </p:pic>
      <p:pic>
        <p:nvPicPr>
          <p:cNvPr id="11" name="Picture 10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F36C17FE-9302-FCF1-9E06-12E993419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90" y="3703933"/>
            <a:ext cx="3100294" cy="1933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11075" cy="759735"/>
          </a:xfrm>
        </p:spPr>
        <p:txBody>
          <a:bodyPr>
            <a:normAutofit/>
          </a:bodyPr>
          <a:lstStyle/>
          <a:p>
            <a:r>
              <a:rPr lang="en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Step1:Expand the background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36462-C6A1-36D2-A1F6-34A679A93D66}"/>
              </a:ext>
            </a:extLst>
          </p:cNvPr>
          <p:cNvSpPr txBox="1"/>
          <p:nvPr/>
        </p:nvSpPr>
        <p:spPr>
          <a:xfrm>
            <a:off x="281833" y="1172889"/>
            <a:ext cx="8611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expand the background image using the seam carving algorithm.</a:t>
            </a:r>
          </a:p>
        </p:txBody>
      </p:sp>
      <p:pic>
        <p:nvPicPr>
          <p:cNvPr id="5" name="Picture 4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DC87D7F0-2274-CC78-FBF4-D1CF543D8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956" y="2115155"/>
            <a:ext cx="3100294" cy="1933014"/>
          </a:xfrm>
          <a:prstGeom prst="rect">
            <a:avLst/>
          </a:prstGeom>
        </p:spPr>
      </p:pic>
      <p:pic>
        <p:nvPicPr>
          <p:cNvPr id="7" name="Picture 6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B24E0846-42A2-E594-DD8D-8F30B049E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331" y="2115155"/>
            <a:ext cx="2726764" cy="19330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1DBE9E-DD8C-6267-D1E6-F93859D88EE4}"/>
              </a:ext>
            </a:extLst>
          </p:cNvPr>
          <p:cNvSpPr txBox="1"/>
          <p:nvPr/>
        </p:nvSpPr>
        <p:spPr>
          <a:xfrm>
            <a:off x="982873" y="4381100"/>
            <a:ext cx="428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342900" indent="-342900">
              <a:buFont typeface="+mj-lt"/>
              <a:buAutoNum type="arabicPeriod"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function calculation</a:t>
            </a:r>
          </a:p>
          <a:p>
            <a:pPr marL="342900" indent="-342900">
              <a:buFont typeface="+mj-lt"/>
              <a:buAutoNum type="arabicPeriod"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 Identification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 removal or insertion</a:t>
            </a:r>
          </a:p>
        </p:txBody>
      </p:sp>
    </p:spTree>
    <p:extLst>
      <p:ext uri="{BB962C8B-B14F-4D97-AF65-F5344CB8AC3E}">
        <p14:creationId xmlns:p14="http://schemas.microsoft.com/office/powerpoint/2010/main" val="235760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11075" cy="759735"/>
          </a:xfrm>
        </p:spPr>
        <p:txBody>
          <a:bodyPr>
            <a:normAutofit/>
          </a:bodyPr>
          <a:lstStyle/>
          <a:p>
            <a:r>
              <a:rPr lang="en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function calculation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3C581-EA63-3D72-1582-C53D5C691538}"/>
              </a:ext>
            </a:extLst>
          </p:cNvPr>
          <p:cNvSpPr txBox="1"/>
          <p:nvPr/>
        </p:nvSpPr>
        <p:spPr>
          <a:xfrm>
            <a:off x="281833" y="1209040"/>
            <a:ext cx="1144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operator to calculate energy and detect the edges.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6E2B14-B2F3-DD03-9731-3423BF4740FF}"/>
                  </a:ext>
                </a:extLst>
              </p:cNvPr>
              <p:cNvSpPr txBox="1"/>
              <p:nvPr/>
            </p:nvSpPr>
            <p:spPr>
              <a:xfrm>
                <a:off x="1148080" y="1937502"/>
                <a:ext cx="2496646" cy="765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6E2B14-B2F3-DD03-9731-3423BF474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080" y="1937502"/>
                <a:ext cx="2496646" cy="765402"/>
              </a:xfrm>
              <a:prstGeom prst="rect">
                <a:avLst/>
              </a:prstGeom>
              <a:blipFill>
                <a:blip r:embed="rId2"/>
                <a:stretch>
                  <a:fillRect l="-505" t="-1639" b="-131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FE48ADC0-5E9A-4504-535E-177897AFB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80" y="2269403"/>
            <a:ext cx="4089400" cy="289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0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11075" cy="759735"/>
          </a:xfrm>
        </p:spPr>
        <p:txBody>
          <a:bodyPr>
            <a:normAutofit/>
          </a:bodyPr>
          <a:lstStyle/>
          <a:p>
            <a:r>
              <a:rPr lang="en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 Identification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2C169-8A28-1FDB-97CC-216DFB1B4C69}"/>
              </a:ext>
            </a:extLst>
          </p:cNvPr>
          <p:cNvSpPr txBox="1"/>
          <p:nvPr/>
        </p:nvSpPr>
        <p:spPr>
          <a:xfrm>
            <a:off x="281832" y="1341120"/>
            <a:ext cx="11643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use seam carving algorithm to resize the image.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optimal seam,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+ 1))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93457B5-DA09-E467-F96D-A0B82E1C7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79511"/>
              </p:ext>
            </p:extLst>
          </p:nvPr>
        </p:nvGraphicFramePr>
        <p:xfrm>
          <a:off x="1070466" y="3057619"/>
          <a:ext cx="2624840" cy="19871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4968">
                  <a:extLst>
                    <a:ext uri="{9D8B030D-6E8A-4147-A177-3AD203B41FA5}">
                      <a16:colId xmlns:a16="http://schemas.microsoft.com/office/drawing/2014/main" val="812853113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711486417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4261750579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1972265761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3091303894"/>
                    </a:ext>
                  </a:extLst>
                </a:gridCol>
              </a:tblGrid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7541328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853094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163370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297757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37305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A9BE4D5-22C0-9785-8490-2592B5431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25361"/>
              </p:ext>
            </p:extLst>
          </p:nvPr>
        </p:nvGraphicFramePr>
        <p:xfrm>
          <a:off x="4493968" y="3057619"/>
          <a:ext cx="2519575" cy="19871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03915">
                  <a:extLst>
                    <a:ext uri="{9D8B030D-6E8A-4147-A177-3AD203B41FA5}">
                      <a16:colId xmlns:a16="http://schemas.microsoft.com/office/drawing/2014/main" val="812853113"/>
                    </a:ext>
                  </a:extLst>
                </a:gridCol>
                <a:gridCol w="503915">
                  <a:extLst>
                    <a:ext uri="{9D8B030D-6E8A-4147-A177-3AD203B41FA5}">
                      <a16:colId xmlns:a16="http://schemas.microsoft.com/office/drawing/2014/main" val="711486417"/>
                    </a:ext>
                  </a:extLst>
                </a:gridCol>
                <a:gridCol w="503915">
                  <a:extLst>
                    <a:ext uri="{9D8B030D-6E8A-4147-A177-3AD203B41FA5}">
                      <a16:colId xmlns:a16="http://schemas.microsoft.com/office/drawing/2014/main" val="4261750579"/>
                    </a:ext>
                  </a:extLst>
                </a:gridCol>
                <a:gridCol w="503915">
                  <a:extLst>
                    <a:ext uri="{9D8B030D-6E8A-4147-A177-3AD203B41FA5}">
                      <a16:colId xmlns:a16="http://schemas.microsoft.com/office/drawing/2014/main" val="1972265761"/>
                    </a:ext>
                  </a:extLst>
                </a:gridCol>
                <a:gridCol w="503915">
                  <a:extLst>
                    <a:ext uri="{9D8B030D-6E8A-4147-A177-3AD203B41FA5}">
                      <a16:colId xmlns:a16="http://schemas.microsoft.com/office/drawing/2014/main" val="3091303894"/>
                    </a:ext>
                  </a:extLst>
                </a:gridCol>
              </a:tblGrid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7541328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853094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163370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297757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37305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C4F9BE4-3151-0B43-96ED-BD7579E0D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658881"/>
              </p:ext>
            </p:extLst>
          </p:nvPr>
        </p:nvGraphicFramePr>
        <p:xfrm>
          <a:off x="7812205" y="3060953"/>
          <a:ext cx="2624840" cy="19871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4968">
                  <a:extLst>
                    <a:ext uri="{9D8B030D-6E8A-4147-A177-3AD203B41FA5}">
                      <a16:colId xmlns:a16="http://schemas.microsoft.com/office/drawing/2014/main" val="812853113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711486417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4261750579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1972265761"/>
                    </a:ext>
                  </a:extLst>
                </a:gridCol>
                <a:gridCol w="524968">
                  <a:extLst>
                    <a:ext uri="{9D8B030D-6E8A-4147-A177-3AD203B41FA5}">
                      <a16:colId xmlns:a16="http://schemas.microsoft.com/office/drawing/2014/main" val="3091303894"/>
                    </a:ext>
                  </a:extLst>
                </a:gridCol>
              </a:tblGrid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7541328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853094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163370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297757"/>
                  </a:ext>
                </a:extLst>
              </a:tr>
              <a:tr h="397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37305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64D4BC7-4B27-0F6B-1CDE-98E97BFD6B46}"/>
              </a:ext>
            </a:extLst>
          </p:cNvPr>
          <p:cNvSpPr txBox="1"/>
          <p:nvPr/>
        </p:nvSpPr>
        <p:spPr>
          <a:xfrm>
            <a:off x="8781454" y="5198225"/>
            <a:ext cx="68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path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3CD311-23B8-274D-B857-03900D002B56}"/>
              </a:ext>
            </a:extLst>
          </p:cNvPr>
          <p:cNvSpPr txBox="1"/>
          <p:nvPr/>
        </p:nvSpPr>
        <p:spPr>
          <a:xfrm>
            <a:off x="4512602" y="5198225"/>
            <a:ext cx="2500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energy accumulation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BE9D36-3360-7C4A-E91D-4CE317AB5976}"/>
              </a:ext>
            </a:extLst>
          </p:cNvPr>
          <p:cNvSpPr txBox="1"/>
          <p:nvPr/>
        </p:nvSpPr>
        <p:spPr>
          <a:xfrm>
            <a:off x="1910673" y="5198225"/>
            <a:ext cx="94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energy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025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11075" cy="759735"/>
          </a:xfrm>
        </p:spPr>
        <p:txBody>
          <a:bodyPr>
            <a:normAutofit/>
          </a:bodyPr>
          <a:lstStyle/>
          <a:p>
            <a:r>
              <a:rPr lang="en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 Identification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2C169-8A28-1FDB-97CC-216DFB1B4C69}"/>
              </a:ext>
            </a:extLst>
          </p:cNvPr>
          <p:cNvSpPr txBox="1"/>
          <p:nvPr/>
        </p:nvSpPr>
        <p:spPr>
          <a:xfrm>
            <a:off x="281832" y="1341120"/>
            <a:ext cx="11643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use seam carving algorithm to resize the image.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optimal seam,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 </a:t>
            </a:r>
            <a:r>
              <a:rPr lang="en-US" altLang="zh-CN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+ 1))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oup of girls with different colored hair&#10;&#10;Description automatically generated">
            <a:extLst>
              <a:ext uri="{FF2B5EF4-FFF2-40B4-BE49-F238E27FC236}">
                <a16:creationId xmlns:a16="http://schemas.microsoft.com/office/drawing/2014/main" id="{795021E7-88A3-1485-8C16-82BD91E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27" y="2441786"/>
            <a:ext cx="3507721" cy="2490642"/>
          </a:xfrm>
          <a:prstGeom prst="rect">
            <a:avLst/>
          </a:prstGeom>
        </p:spPr>
      </p:pic>
      <p:pic>
        <p:nvPicPr>
          <p:cNvPr id="9" name="Picture 8" descr="A group of girls with long hair and a red hair ponytail&#10;&#10;Description automatically generated">
            <a:extLst>
              <a:ext uri="{FF2B5EF4-FFF2-40B4-BE49-F238E27FC236}">
                <a16:creationId xmlns:a16="http://schemas.microsoft.com/office/drawing/2014/main" id="{B00ECC66-7C0C-4D38-AF1A-53729151A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643" y="2440038"/>
            <a:ext cx="3513369" cy="24906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EFE9678-913E-1FCE-DCA9-F8B341B03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607" y="2438290"/>
            <a:ext cx="3513369" cy="249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11075" cy="759735"/>
          </a:xfrm>
        </p:spPr>
        <p:txBody>
          <a:bodyPr>
            <a:normAutofit/>
          </a:bodyPr>
          <a:lstStyle/>
          <a:p>
            <a:r>
              <a:rPr lang="en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 removal or insertion</a:t>
            </a:r>
          </a:p>
        </p:txBody>
      </p:sp>
      <p:pic>
        <p:nvPicPr>
          <p:cNvPr id="3" name="Picture 2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479E0085-37CA-A341-422D-A5298BB15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582" y="1871875"/>
            <a:ext cx="4994836" cy="311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14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08167" cy="759735"/>
          </a:xfrm>
        </p:spPr>
        <p:txBody>
          <a:bodyPr>
            <a:normAutofit/>
          </a:bodyPr>
          <a:lstStyle/>
          <a:p>
            <a:r>
              <a:rPr lang="en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Extract the foreground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36462-C6A1-36D2-A1F6-34A679A93D66}"/>
              </a:ext>
            </a:extLst>
          </p:cNvPr>
          <p:cNvSpPr txBox="1"/>
          <p:nvPr/>
        </p:nvSpPr>
        <p:spPr>
          <a:xfrm>
            <a:off x="281833" y="1172889"/>
            <a:ext cx="1179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extract the foreground image using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 filling based on morphological reconstruction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DBE9E-DD8C-6267-D1E6-F93859D88EE4}"/>
              </a:ext>
            </a:extLst>
          </p:cNvPr>
          <p:cNvSpPr txBox="1"/>
          <p:nvPr/>
        </p:nvSpPr>
        <p:spPr>
          <a:xfrm>
            <a:off x="949490" y="4363730"/>
            <a:ext cx="6677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the mask image using hole filling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the foreground image using the mask</a:t>
            </a:r>
          </a:p>
        </p:txBody>
      </p:sp>
      <p:pic>
        <p:nvPicPr>
          <p:cNvPr id="8" name="Picture 7" descr="A cartoon of a child with short hair&#10;&#10;Description automatically generated">
            <a:extLst>
              <a:ext uri="{FF2B5EF4-FFF2-40B4-BE49-F238E27FC236}">
                <a16:creationId xmlns:a16="http://schemas.microsoft.com/office/drawing/2014/main" id="{8995E45D-72E1-D5BF-C80C-47D732E973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80" y="1993956"/>
            <a:ext cx="3459480" cy="2075688"/>
          </a:xfrm>
          <a:prstGeom prst="rect">
            <a:avLst/>
          </a:prstGeom>
        </p:spPr>
      </p:pic>
      <p:pic>
        <p:nvPicPr>
          <p:cNvPr id="12" name="Picture 11" descr="A cartoon of a child&#10;&#10;Description automatically generated">
            <a:extLst>
              <a:ext uri="{FF2B5EF4-FFF2-40B4-BE49-F238E27FC236}">
                <a16:creationId xmlns:a16="http://schemas.microsoft.com/office/drawing/2014/main" id="{9762BBD1-06DB-5A34-CD7B-2F69AA6A1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341" y="2140858"/>
            <a:ext cx="3225923" cy="1928786"/>
          </a:xfrm>
          <a:prstGeom prst="rect">
            <a:avLst/>
          </a:prstGeom>
        </p:spPr>
      </p:pic>
      <p:pic>
        <p:nvPicPr>
          <p:cNvPr id="6" name="Picture 5" descr="A silhouette of a person&#10;&#10;Description automatically generated">
            <a:extLst>
              <a:ext uri="{FF2B5EF4-FFF2-40B4-BE49-F238E27FC236}">
                <a16:creationId xmlns:a16="http://schemas.microsoft.com/office/drawing/2014/main" id="{4FFF7915-0F76-2434-9031-D7280E6AB6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287" y="1993956"/>
            <a:ext cx="1297305" cy="207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1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08167" cy="75973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ilation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9A693F-992E-C443-90C3-1467307CD44F}"/>
              </a:ext>
            </a:extLst>
          </p:cNvPr>
          <p:cNvGrpSpPr/>
          <p:nvPr/>
        </p:nvGrpSpPr>
        <p:grpSpPr>
          <a:xfrm>
            <a:off x="1498035" y="1164459"/>
            <a:ext cx="6175762" cy="5072643"/>
            <a:chOff x="3302596" y="1126751"/>
            <a:chExt cx="6175762" cy="5072643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01A8C663-C464-4DB8-E98F-7B7006732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2596" y="1126751"/>
              <a:ext cx="6175762" cy="507264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5A6AC4B-ACC1-C184-4ED8-3E3C9D4B4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2596" y="5727812"/>
              <a:ext cx="3476551" cy="471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7845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08167" cy="75973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 Filling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5739E3-E0B6-1653-AB2A-76C191813B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1" r="12686" b="67090"/>
          <a:stretch/>
        </p:blipFill>
        <p:spPr>
          <a:xfrm>
            <a:off x="1261845" y="2271723"/>
            <a:ext cx="3186260" cy="17563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1AAB11-A4A6-664F-5668-152072ED6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20" y="1472924"/>
            <a:ext cx="4036785" cy="5472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01D101-0BE8-EA2F-36F7-0804401271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1" t="32509" b="33046"/>
          <a:stretch/>
        </p:blipFill>
        <p:spPr>
          <a:xfrm>
            <a:off x="5224693" y="2271723"/>
            <a:ext cx="3838955" cy="18382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BA216CE-5B0E-9E47-5241-4FAF254F5F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6" t="65556"/>
          <a:stretch/>
        </p:blipFill>
        <p:spPr>
          <a:xfrm>
            <a:off x="5294541" y="4245435"/>
            <a:ext cx="3769107" cy="183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07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608167" cy="7597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 Filling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36A4B3-F89D-1BB3-933B-8CB22DC4F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80" y="1172439"/>
            <a:ext cx="3876730" cy="51670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B2EC0E-BD2E-1814-6BA2-EE45728F9E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391" y="1291471"/>
            <a:ext cx="2840661" cy="453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8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9746087" cy="759735"/>
          </a:xfrm>
        </p:spPr>
        <p:txBody>
          <a:bodyPr>
            <a:normAutofit fontScale="90000"/>
          </a:bodyPr>
          <a:lstStyle/>
          <a:p>
            <a:r>
              <a:rPr lang="en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 Integrate the foreground and the background image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36462-C6A1-36D2-A1F6-34A679A93D66}"/>
              </a:ext>
            </a:extLst>
          </p:cNvPr>
          <p:cNvSpPr txBox="1"/>
          <p:nvPr/>
        </p:nvSpPr>
        <p:spPr>
          <a:xfrm>
            <a:off x="281833" y="1172889"/>
            <a:ext cx="10279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scale the background and foreground images, and merge them into one image.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group of girls with long hair&#10;&#10;Description automatically generated">
            <a:extLst>
              <a:ext uri="{FF2B5EF4-FFF2-40B4-BE49-F238E27FC236}">
                <a16:creationId xmlns:a16="http://schemas.microsoft.com/office/drawing/2014/main" id="{CD51EAFF-44AC-8304-0CAC-200CC1608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800" y="2281293"/>
            <a:ext cx="42164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16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59F0C4-5EFF-F0CA-544D-0CF171F150E3}"/>
              </a:ext>
            </a:extLst>
          </p:cNvPr>
          <p:cNvSpPr txBox="1"/>
          <p:nvPr/>
        </p:nvSpPr>
        <p:spPr>
          <a:xfrm>
            <a:off x="1701207" y="2631440"/>
            <a:ext cx="87895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hanghaiTech">
      <a:dk1>
        <a:sysClr val="windowText" lastClr="000000"/>
      </a:dk1>
      <a:lt1>
        <a:sysClr val="window" lastClr="FFFFFF"/>
      </a:lt1>
      <a:dk2>
        <a:srgbClr val="A40006"/>
      </a:dk2>
      <a:lt2>
        <a:srgbClr val="E7E6E6"/>
      </a:lt2>
      <a:accent1>
        <a:srgbClr val="004098"/>
      </a:accent1>
      <a:accent2>
        <a:srgbClr val="009944"/>
      </a:accent2>
      <a:accent3>
        <a:srgbClr val="F39800"/>
      </a:accent3>
      <a:accent4>
        <a:srgbClr val="7E3C93"/>
      </a:accent4>
      <a:accent5>
        <a:srgbClr val="269BC1"/>
      </a:accent5>
      <a:accent6>
        <a:srgbClr val="A40006"/>
      </a:accent6>
      <a:hlink>
        <a:srgbClr val="A40006"/>
      </a:hlink>
      <a:folHlink>
        <a:srgbClr val="A4000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356</Words>
  <Application>Microsoft Office PowerPoint</Application>
  <PresentationFormat>宽屏</PresentationFormat>
  <Paragraphs>111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微软雅黑</vt:lpstr>
      <vt:lpstr>Arial</vt:lpstr>
      <vt:lpstr>Cambria Math</vt:lpstr>
      <vt:lpstr>Times New Roman</vt:lpstr>
      <vt:lpstr>Office 主题​​</vt:lpstr>
      <vt:lpstr>Image Resizing and Image Matting</vt:lpstr>
      <vt:lpstr>Steps</vt:lpstr>
      <vt:lpstr>Step1:Expand the background</vt:lpstr>
      <vt:lpstr>Energy function calculation</vt:lpstr>
      <vt:lpstr>Seam Identification</vt:lpstr>
      <vt:lpstr>Seam Identification</vt:lpstr>
      <vt:lpstr>Seam removal or insertion</vt:lpstr>
      <vt:lpstr>Step2: Extract the foreground</vt:lpstr>
      <vt:lpstr>Dilation</vt:lpstr>
      <vt:lpstr>Hole Filling</vt:lpstr>
      <vt:lpstr>Hole Filling</vt:lpstr>
      <vt:lpstr>Step3: Integrate the foreground and the background image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George Yao;Jiahe Shi</dc:creator>
  <cp:lastModifiedBy>茹玥 严</cp:lastModifiedBy>
  <cp:revision>100</cp:revision>
  <dcterms:created xsi:type="dcterms:W3CDTF">2019-02-23T16:09:00Z</dcterms:created>
  <dcterms:modified xsi:type="dcterms:W3CDTF">2024-06-18T02:31:56Z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80B76266CAF048D0B180BD7250798C20</vt:lpwstr>
  </property>
</Properties>
</file>